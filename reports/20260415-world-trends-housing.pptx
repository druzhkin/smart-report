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60000"/>
            <a:ext cx="3343898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АНАЛИТИЧЕСКИЙ ОТЧЁТ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792000"/>
            <a:ext cx="108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03898" y="1080000"/>
            <a:ext cx="7047797" cy="21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B3A5C"/>
                </a:solidFill>
                <a:latin typeface="Arial"/>
              </a:rPr>
              <a:t>Какие мировые тренды 2025–2030 повлияют на жилое строительство в России — технологические, демографические, экономические, культурные, экологические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3898" y="5958000"/>
            <a:ext cx="7047797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Arial"/>
              </a:rPr>
              <a:t>5 доменов  ·  15 блоков  ·  10 связей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ЦЕЛЬ И КОНТЕКСТ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108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1B3A5C"/>
                </a:solidFill>
                <a:latin typeface="Arial"/>
              </a:rPr>
              <a:t>Какие мировые тренды 2025–2030 повлияют на жилое строительство в России — технологические, демографические, экономические, культурные, экологические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880000"/>
            <a:ext cx="11471695" cy="18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Arial"/>
              </a:rPr>
              <a:t>Отчёт выявляет ключевые технологические, демографические, макроэкономические, социокультурные и экологические тренды 2025–2030 гг., определяющие трансформацию российского жилого строительства.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МАТРИЦА ДОМЕНОВ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2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Цвет = приоритет домена (🔴/🟡/🟢)</a:t>
            </a:r>
          </a:p>
        </p:txBody>
      </p:sp>
      <p:pic>
        <p:nvPicPr>
          <p:cNvPr id="5" name="Picture 4" descr="20260415-world-trends-housing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850" y="1260000"/>
            <a:ext cx="8107995" cy="50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КЛЮЧЕВЫЕ МЕТРИКИ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2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Самые сильные цифры отчёта</a:t>
            </a:r>
          </a:p>
        </p:txBody>
      </p:sp>
      <p:pic>
        <p:nvPicPr>
          <p:cNvPr id="5" name="Picture 4" descr="20260415-world-trends-housing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76" y="1260000"/>
            <a:ext cx="8064542" cy="50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360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НАХОДКА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14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1B3A5C"/>
                </a:solidFill>
                <a:latin typeface="Arial"/>
              </a:rPr>
              <a:t>Цифровые двойники ускоряют реализацию проектов на ~25%, что подтверждено практиками мониторинга на объектах «Лахта Центр» и «Бирюлевское» (itweek.ru).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24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4000" b="1" i="0">
                <a:solidFill>
                  <a:srgbClr val="2E86C1"/>
                </a:solidFill>
                <a:latin typeface="Arial"/>
              </a:rPr>
              <a:t>Интеграция цифровых двойников ускоряет реализацию проектов на ~25% (itweek.ru).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468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[Технологии и цифровизация строительства / Глобальные инновации]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360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НАХОДКА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14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1B3A5C"/>
                </a:solidFill>
                <a:latin typeface="Arial"/>
              </a:rPr>
              <a:t>Доля домохозяйств из одного человека в РФ достигла 41,8% (27,6 млн), впервые став преобладающим типом, а ИЖС формирует &gt;56% годового ввода жилья (РБК/Росстат, Российская газета).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24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4000" b="1" i="0">
                <a:solidFill>
                  <a:srgbClr val="2E86C1"/>
                </a:solidFill>
                <a:latin typeface="Arial"/>
              </a:rPr>
              <a:t>Доля домохозяйств из одного человека выросла до 41,8% (27,6 млн), а ИЖС формирует &gt;56% годового ввода жилья (РБК/Росстат, РГ).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468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[Демография и миграционные потоки / Структура домохозяйств и типология спроса]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360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НАХОДКА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14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1B3A5C"/>
                </a:solidFill>
                <a:latin typeface="Arial"/>
              </a:rPr>
              <a:t>Инвестиционные сделки на рынке недвижимости выросли до 47%, тогда как доля граждан, планирующих покупку жилья для себя, упала до 16% (ВЦИОМ/ДОМ.РФ).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24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4000" b="1" i="0">
                <a:solidFill>
                  <a:srgbClr val="2E86C1"/>
                </a:solidFill>
                <a:latin typeface="Arial"/>
              </a:rPr>
              <a:t>Доля инвестиционных сделок достигла 47%, при этом 46% покупателей требуют 3+ комнат, а на рынке их лишь 14% (irn.ru, ДОМ.РФ).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468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[Социокультурные паттерны и урбанистика / Российские практики расселения]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360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НАХОДКА #4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14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1B3A5C"/>
                </a:solidFill>
                <a:latin typeface="Arial"/>
              </a:rPr>
              <a:t>К 2030–2039 гг. температура в европейской части РФ и Сибири вырастет на 2–4°C летом, увеличивая интенсивность ливней до 50 мм/час (ГГО им. Воейкова).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24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4000" b="1" i="0">
                <a:solidFill>
                  <a:srgbClr val="2E86C1"/>
                </a:solidFill>
                <a:latin typeface="Arial"/>
              </a:rPr>
              <a:t>К 2030–2039 гг. ожидается рост температуры в европейской части РФ и Сибири на 2–4°C летом при увеличении осадков на 10–20% (ГГО им. Воейкова).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468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[Экология и климатическая адаптация / Климатические изменения в РФ]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360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НАХОДКА #5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14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1B3A5C"/>
                </a:solidFill>
                <a:latin typeface="Arial"/>
              </a:rPr>
              <a:t>Сертификация Green Zoom адаптирована под российские нормы на 90%, но охватывает не более 30 жилых зданий по всей стране (Коммерсантъ).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24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4000" b="1" i="0">
                <a:solidFill>
                  <a:srgbClr val="2E86C1"/>
                </a:solidFill>
                <a:latin typeface="Arial"/>
              </a:rPr>
              <a:t>Green Zoom адаптирована под российские нормы на 90%, но сертифицировано не более 30 жилых зданий по всей России (Green Zoom, Коммерсантъ).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468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[Экология и климатическая адаптация / Зелёные материалы и рыночный спрос]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ГРАФ КРОСС-ДОМЕННЫХ СВЯЗЕЙ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2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Цвет ребра = тип связи, толщина = сила</a:t>
            </a:r>
          </a:p>
        </p:txBody>
      </p:sp>
      <p:pic>
        <p:nvPicPr>
          <p:cNvPr id="5" name="Picture 4" descr="20260415-world-trends-housing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871" y="1260000"/>
            <a:ext cx="4907953" cy="50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2E86C1"/>
                </a:solidFill>
                <a:latin typeface="Arial"/>
              </a:rPr>
              <a:t>СВЯЗЬ #1 · 🔗 ПРИЧИННАЯ ЦЕПОЧКА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1B3A5C"/>
                </a:solidFill>
                <a:latin typeface="Arial"/>
              </a:rPr>
              <a:t>Демография и миграционные потоки / Миграционная динамика в РФ ↔ Технологии и цифровизация строительства / Глобальные инновации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800000"/>
            <a:ext cx="11471695" cy="18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Сокращение трудоспособного населения создаёт структурный дефицит кадров в строительстве, что делает традиционные методы экономически неэффективными. Это вынуждает отрасль форсировать внедрение цифровых двойников и автоматизации для компенсации нехватки рабочих рук, несмотря на регуляторные барьеры.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396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Что нового: Цифровизация и автоматизация в строительстве — не технологический тренд, а вынужденная демографическая адаптация; без них отрасль столкнётся с коллапсом себестоимости к 2030 году.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5040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Сила: strong  ·  Общая переменная: трудовой дефицит и производительность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Arial"/>
              </a:rPr>
              <a:t>СВЯЗЬ #2 · ⚡ ПАРАДОКС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1B3A5C"/>
                </a:solidFill>
                <a:latin typeface="Arial"/>
              </a:rPr>
              <a:t>Социокультурные паттерны и урбанистика / Российские практики расселения ↔ Демография и миграционные потоки / Структура домохозяйств и типология спроса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800000"/>
            <a:ext cx="11471695" cy="18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Потребители массово декларируют спрос на семейное жильё (3+ комнат), но реальная демография показывает доминирование одиноких домохозяйств (41,8%). Рынок реагирует на платёжеспособный спрос, наращивая долю студий и ИЖС, что создаёт хронический дефицит формально востребованных квартир.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396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Что нового: Декларируемые предпочтения покупателей расходятся с демографической реальностью; девелоперы строят под фактический состав домохозяйств, а не под заявленные желания, что ведёт к долгосрочной стагнации рынка семейных квартир.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5040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Сила: strong  ·  Общая переменная: структура жилищного предложения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2E5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2E5984"/>
                </a:solidFill>
                <a:latin typeface="Arial"/>
              </a:rPr>
              <a:t>СВЯЗЬ #3 · ◇ ОБЩАЯ ПЕРЕМЕННАЯ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1147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1B3A5C"/>
                </a:solidFill>
                <a:latin typeface="Arial"/>
              </a:rPr>
              <a:t>Макроэкономика и финансирование девелопмента / Российская финансовая экосистема ↔ Экология и климатическая адаптация / Глобальные климатические риски и ESG ↔ Технологии и цифровизация строительства / Экономика внедрения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800000"/>
            <a:ext cx="11471695" cy="18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Высокие ставки по кредитам МСП (~20-24%) делают окупаемость цифровых и ESG-решений критически зависимой от скорости возврата инвестиций. Заявленный кредитный дисконт 2% за ESG-практики нивелируется базовой стоимостью долга, оставляя рентабельными только проекты с окупаемостью до 1-2 лет.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3960000"/>
            <a:ext cx="11471695" cy="90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Что нового: В условиях жёсткой монетарной политики ESG-льготы и цифровизация перестают быть стратегическими инвестициями и становятся инструментом выживания только для крупных игроков с доступом к дешёвому капиталу.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5040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Сила: moderate  ·  Общая переменная: стоимость заёмного капитала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ТЕПЛОВАЯ КАРТА ПРИОРИТЕТОВ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20000"/>
            <a:ext cx="1147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Arial"/>
              </a:rPr>
              <a:t>Где золото, где пусто</a:t>
            </a:r>
          </a:p>
        </p:txBody>
      </p:sp>
      <p:pic>
        <p:nvPicPr>
          <p:cNvPr id="5" name="Picture 4" descr="20260415-world-trends-housing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080" y="1260000"/>
            <a:ext cx="7959535" cy="50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360000"/>
            <a:ext cx="72000" cy="54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11695" cy="36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B3A5C"/>
                </a:solidFill>
                <a:latin typeface="Arial"/>
              </a:rPr>
              <a:t>КРИТИЧЕСКИЕ ПРОБЕЛЫ И СЛЕДУЮЩИЕ ШАГИ</a:t>
            </a:r>
          </a:p>
        </p:txBody>
      </p:sp>
      <p:sp>
        <p:nvSpPr>
          <p:cNvPr id="4" name="Oval 3"/>
          <p:cNvSpPr/>
          <p:nvPr/>
        </p:nvSpPr>
        <p:spPr>
          <a:xfrm>
            <a:off x="360000" y="1152000"/>
            <a:ext cx="144000" cy="144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080000"/>
            <a:ext cx="1111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Найти прямые отчёты McKinsey/BCG/Gartner по цифровизации и автоматизации строительства на 2024–2030 гг. для верификации отраслевых прогнозов.</a:t>
            </a:r>
          </a:p>
        </p:txBody>
      </p:sp>
      <p:sp>
        <p:nvSpPr>
          <p:cNvPr id="6" name="Oval 5"/>
          <p:cNvSpPr/>
          <p:nvPr/>
        </p:nvSpPr>
        <p:spPr>
          <a:xfrm>
            <a:off x="360000" y="1800000"/>
            <a:ext cx="144000" cy="144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728000"/>
            <a:ext cx="1111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Запросить актуальные данные МВД и Росстата по внутренней миграции за 2024–2025 гг. с разбивкой по ФО для уточнения региональных прогнозов спроса.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2448000"/>
            <a:ext cx="144000" cy="144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2376000"/>
            <a:ext cx="1111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Оценить фактическое влияние изменений 214-ФЗ и требований к капиталу застройщиков на консолидацию рынка и вход МСБ в сегмент.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3096000"/>
            <a:ext cx="144000" cy="144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0000" y="3024000"/>
            <a:ext cx="11111695" cy="54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1B3A5C"/>
                </a:solidFill>
                <a:latin typeface="Arial"/>
              </a:rPr>
              <a:t>Собрать статистику страховых выплат и тарифов по климатическим рискам (паводки, мерзлота) в регионах РФ за 2022–2024 гг.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0"/>
            <a:ext cx="11471695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2160000"/>
            <a:ext cx="11471695" cy="108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5 доменов · 15 блоков · 10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0"/>
            <a:ext cx="11471695" cy="108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Arial"/>
              </a:rPr>
              <a:t>Цифровые двойники ускоряют реализацию проектов на ~25%, что подтверждено практиками мониторинга на объектах «Лахта Центр» и «Бирюлевское» (itweek.ru).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